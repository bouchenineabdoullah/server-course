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5"/>
  </p:notesMasterIdLst>
  <p:sldIdLst>
    <p:sldId id="274" r:id="rId2"/>
    <p:sldId id="264" r:id="rId3"/>
    <p:sldId id="275" r:id="rId4"/>
  </p:sldIdLst>
  <p:sldSz cx="9144000" cy="5143500" type="screen16x9"/>
  <p:notesSz cx="6858000" cy="9144000"/>
  <p:embeddedFontLst>
    <p:embeddedFont>
      <p:font typeface="Rubik Black" charset="-78"/>
      <p:bold r:id="rId6"/>
      <p:boldItalic r:id="rId7"/>
    </p:embeddedFont>
    <p:embeddedFont>
      <p:font typeface="Karla" charset="0"/>
      <p:regular r:id="rId8"/>
      <p:bold r:id="rId9"/>
      <p:italic r:id="rId10"/>
      <p:boldItalic r:id="rId11"/>
    </p:embeddedFont>
    <p:embeddedFont>
      <p:font typeface="Bebas Neue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EDF42312-9E96-4A5D-A046-EA3F34A97C3B}">
  <a:tblStyle styleId="{EDF42312-9E96-4A5D-A046-EA3F34A97C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1DB6C3-61B1-4A10-B4B0-D8E8CEF777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4e1613f9b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4e1613f9b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80" name="Google Shape;180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>
            <a:spLocks noGrp="1"/>
          </p:cNvSpPr>
          <p:nvPr>
            <p:ph type="subTitle" idx="1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0" name="Google Shape;330;p20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20"/>
          <p:cNvSpPr txBox="1">
            <a:spLocks noGrp="1"/>
          </p:cNvSpPr>
          <p:nvPr>
            <p:ph type="subTitle" idx="1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2" name="Google Shape;332;p20"/>
          <p:cNvSpPr txBox="1">
            <a:spLocks noGrp="1"/>
          </p:cNvSpPr>
          <p:nvPr>
            <p:ph type="subTitle" idx="2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0"/>
          <p:cNvSpPr txBox="1">
            <a:spLocks noGrp="1"/>
          </p:cNvSpPr>
          <p:nvPr>
            <p:ph type="subTitle" idx="3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4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5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6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subTitle" idx="7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8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6" r:id="rId3"/>
    <p:sldLayoutId id="2147483670" r:id="rId4"/>
    <p:sldLayoutId id="2147483671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47"/>
          <p:cNvGrpSpPr/>
          <p:nvPr/>
        </p:nvGrpSpPr>
        <p:grpSpPr>
          <a:xfrm>
            <a:off x="2714612" y="3929072"/>
            <a:ext cx="3657590" cy="348347"/>
            <a:chOff x="4572050" y="100025"/>
            <a:chExt cx="3657590" cy="348347"/>
          </a:xfrm>
        </p:grpSpPr>
        <p:sp>
          <p:nvSpPr>
            <p:cNvPr id="1034" name="Google Shape;1034;p47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4572050" y="100025"/>
              <a:ext cx="3657590" cy="348347"/>
            </a:xfrm>
            <a:custGeom>
              <a:avLst/>
              <a:gdLst/>
              <a:ahLst/>
              <a:cxnLst/>
              <a:rect l="l" t="t" r="r" b="b"/>
              <a:pathLst>
                <a:path w="46122" h="4488" extrusionOk="0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7"/>
            <p:cNvSpPr/>
            <p:nvPr/>
          </p:nvSpPr>
          <p:spPr>
            <a:xfrm>
              <a:off x="4720981" y="137824"/>
              <a:ext cx="328867" cy="270807"/>
            </a:xfrm>
            <a:custGeom>
              <a:avLst/>
              <a:gdLst/>
              <a:ahLst/>
              <a:cxnLst/>
              <a:rect l="l" t="t" r="r" b="b"/>
              <a:pathLst>
                <a:path w="4147" h="3489" extrusionOk="0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7"/>
            <p:cNvSpPr/>
            <p:nvPr/>
          </p:nvSpPr>
          <p:spPr>
            <a:xfrm>
              <a:off x="4722884" y="287391"/>
              <a:ext cx="307614" cy="121239"/>
            </a:xfrm>
            <a:custGeom>
              <a:avLst/>
              <a:gdLst/>
              <a:ahLst/>
              <a:cxnLst/>
              <a:rect l="l" t="t" r="r" b="b"/>
              <a:pathLst>
                <a:path w="3879" h="1562" extrusionOk="0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7"/>
            <p:cNvSpPr/>
            <p:nvPr/>
          </p:nvSpPr>
          <p:spPr>
            <a:xfrm>
              <a:off x="4610750" y="238182"/>
              <a:ext cx="98732" cy="70089"/>
            </a:xfrm>
            <a:custGeom>
              <a:avLst/>
              <a:gdLst/>
              <a:ahLst/>
              <a:cxnLst/>
              <a:rect l="l" t="t" r="r" b="b"/>
              <a:pathLst>
                <a:path w="1245" h="903" extrusionOk="0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7"/>
            <p:cNvSpPr/>
            <p:nvPr/>
          </p:nvSpPr>
          <p:spPr>
            <a:xfrm>
              <a:off x="4610750" y="272256"/>
              <a:ext cx="92943" cy="36015"/>
            </a:xfrm>
            <a:custGeom>
              <a:avLst/>
              <a:gdLst/>
              <a:ahLst/>
              <a:cxnLst/>
              <a:rect l="l" t="t" r="r" b="b"/>
              <a:pathLst>
                <a:path w="1172" h="464" extrusionOk="0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7"/>
            <p:cNvSpPr/>
            <p:nvPr/>
          </p:nvSpPr>
          <p:spPr>
            <a:xfrm>
              <a:off x="5043980" y="130295"/>
              <a:ext cx="2541566" cy="289669"/>
            </a:xfrm>
            <a:custGeom>
              <a:avLst/>
              <a:gdLst/>
              <a:ahLst/>
              <a:cxnLst/>
              <a:rect l="l" t="t" r="r" b="b"/>
              <a:pathLst>
                <a:path w="32049" h="3732" extrusionOk="0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7"/>
            <p:cNvSpPr/>
            <p:nvPr/>
          </p:nvSpPr>
          <p:spPr>
            <a:xfrm>
              <a:off x="5043980" y="353676"/>
              <a:ext cx="2541566" cy="64423"/>
            </a:xfrm>
            <a:custGeom>
              <a:avLst/>
              <a:gdLst/>
              <a:ahLst/>
              <a:cxnLst/>
              <a:rect l="l" t="t" r="r" b="b"/>
              <a:pathLst>
                <a:path w="32049" h="830" extrusionOk="0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7"/>
            <p:cNvSpPr/>
            <p:nvPr/>
          </p:nvSpPr>
          <p:spPr>
            <a:xfrm>
              <a:off x="7610613" y="130295"/>
              <a:ext cx="152895" cy="287806"/>
            </a:xfrm>
            <a:custGeom>
              <a:avLst/>
              <a:gdLst/>
              <a:ahLst/>
              <a:cxnLst/>
              <a:rect l="l" t="t" r="r" b="b"/>
              <a:pathLst>
                <a:path w="1928" h="3708" extrusionOk="0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7"/>
            <p:cNvSpPr/>
            <p:nvPr/>
          </p:nvSpPr>
          <p:spPr>
            <a:xfrm>
              <a:off x="7610613" y="361205"/>
              <a:ext cx="154798" cy="56894"/>
            </a:xfrm>
            <a:custGeom>
              <a:avLst/>
              <a:gdLst/>
              <a:ahLst/>
              <a:cxnLst/>
              <a:rect l="l" t="t" r="r" b="b"/>
              <a:pathLst>
                <a:path w="1952" h="733" extrusionOk="0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7"/>
            <p:cNvSpPr/>
            <p:nvPr/>
          </p:nvSpPr>
          <p:spPr>
            <a:xfrm>
              <a:off x="7788568" y="130295"/>
              <a:ext cx="408170" cy="287806"/>
            </a:xfrm>
            <a:custGeom>
              <a:avLst/>
              <a:gdLst/>
              <a:ahLst/>
              <a:cxnLst/>
              <a:rect l="l" t="t" r="r" b="b"/>
              <a:pathLst>
                <a:path w="5147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7"/>
            <p:cNvSpPr/>
            <p:nvPr/>
          </p:nvSpPr>
          <p:spPr>
            <a:xfrm>
              <a:off x="7788568" y="224910"/>
              <a:ext cx="396592" cy="193190"/>
            </a:xfrm>
            <a:custGeom>
              <a:avLst/>
              <a:gdLst/>
              <a:ahLst/>
              <a:cxnLst/>
              <a:rect l="l" t="t" r="r" b="b"/>
              <a:pathLst>
                <a:path w="5001" h="2489" extrusionOk="0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6" name="Google Shape;1046;p47"/>
          <p:cNvSpPr txBox="1">
            <a:spLocks noGrp="1"/>
          </p:cNvSpPr>
          <p:nvPr>
            <p:ph type="title"/>
          </p:nvPr>
        </p:nvSpPr>
        <p:spPr>
          <a:xfrm>
            <a:off x="1357290" y="185737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Network </a:t>
            </a:r>
            <a:r>
              <a:rPr lang="en" sz="4800" smtClean="0"/>
              <a:t>systems </a:t>
            </a:r>
            <a:r>
              <a:rPr lang="en" sz="4800" smtClean="0"/>
              <a:t>in </a:t>
            </a:r>
            <a:r>
              <a:rPr lang="en" sz="4800" dirty="0" smtClean="0"/>
              <a:t>windows</a:t>
            </a:r>
            <a:endParaRPr sz="4800"/>
          </a:p>
        </p:txBody>
      </p:sp>
      <p:grpSp>
        <p:nvGrpSpPr>
          <p:cNvPr id="1052" name="Google Shape;1052;p47"/>
          <p:cNvGrpSpPr/>
          <p:nvPr/>
        </p:nvGrpSpPr>
        <p:grpSpPr>
          <a:xfrm>
            <a:off x="214282" y="1071552"/>
            <a:ext cx="1827475" cy="1051350"/>
            <a:chOff x="274188" y="1278048"/>
            <a:chExt cx="1827475" cy="1051350"/>
          </a:xfrm>
        </p:grpSpPr>
        <p:sp>
          <p:nvSpPr>
            <p:cNvPr id="1053" name="Google Shape;1053;p47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4" name="Google Shape;1054;p47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1055" name="Google Shape;1055;p47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47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57" name="Google Shape;1057;p47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1058" name="Google Shape;1058;p47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avLst/>
                <a:gdLst/>
                <a:ahLst/>
                <a:cxnLst/>
                <a:rect l="l" t="t" r="r" b="b"/>
                <a:pathLst>
                  <a:path w="8732" h="8733" extrusionOk="0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47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86" extrusionOk="0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47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5928" extrusionOk="0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47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5854" extrusionOk="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47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3028" extrusionOk="0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528;p32"/>
          <p:cNvGrpSpPr/>
          <p:nvPr/>
        </p:nvGrpSpPr>
        <p:grpSpPr>
          <a:xfrm rot="-5400000">
            <a:off x="7099191" y="830377"/>
            <a:ext cx="603495" cy="1371596"/>
            <a:chOff x="3724575" y="3497700"/>
            <a:chExt cx="603495" cy="1371596"/>
          </a:xfrm>
        </p:grpSpPr>
        <p:sp>
          <p:nvSpPr>
            <p:cNvPr id="34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999;p45"/>
          <p:cNvSpPr/>
          <p:nvPr/>
        </p:nvSpPr>
        <p:spPr>
          <a:xfrm>
            <a:off x="1214414" y="4286262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1000;p45"/>
          <p:cNvSpPr/>
          <p:nvPr/>
        </p:nvSpPr>
        <p:spPr>
          <a:xfrm>
            <a:off x="7447546" y="4377769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001;p45"/>
          <p:cNvSpPr/>
          <p:nvPr/>
        </p:nvSpPr>
        <p:spPr>
          <a:xfrm>
            <a:off x="7215206" y="4229117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Workgroup</a:t>
            </a:r>
            <a:endParaRPr sz="2800"/>
          </a:p>
        </p:txBody>
      </p:sp>
      <p:sp>
        <p:nvSpPr>
          <p:cNvPr id="11" name="Plaque 10"/>
          <p:cNvSpPr/>
          <p:nvPr/>
        </p:nvSpPr>
        <p:spPr>
          <a:xfrm>
            <a:off x="1357290" y="1714493"/>
            <a:ext cx="2143140" cy="1558647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>
                <a:solidFill>
                  <a:schemeClr val="tx1"/>
                </a:solidFill>
              </a:rPr>
              <a:t>Win 10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12" name="Plaque 11"/>
          <p:cNvSpPr/>
          <p:nvPr/>
        </p:nvSpPr>
        <p:spPr>
          <a:xfrm>
            <a:off x="4000496" y="1714493"/>
            <a:ext cx="2143140" cy="1558647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>
                <a:solidFill>
                  <a:schemeClr val="tx1"/>
                </a:solidFill>
              </a:rPr>
              <a:t>Win 11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14" name="Croix 13"/>
          <p:cNvSpPr/>
          <p:nvPr/>
        </p:nvSpPr>
        <p:spPr>
          <a:xfrm>
            <a:off x="6786578" y="1928808"/>
            <a:ext cx="1143008" cy="1143008"/>
          </a:xfrm>
          <a:prstGeom prst="plus">
            <a:avLst>
              <a:gd name="adj" fmla="val 36954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3571868" y="3857634"/>
            <a:ext cx="2000264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Switch</a:t>
            </a:r>
            <a:endParaRPr lang="fr-FR" sz="2400" b="1" dirty="0">
              <a:solidFill>
                <a:schemeClr val="tx1"/>
              </a:solidFill>
            </a:endParaRPr>
          </a:p>
        </p:txBody>
      </p:sp>
      <p:cxnSp>
        <p:nvCxnSpPr>
          <p:cNvPr id="17" name="Forme 16"/>
          <p:cNvCxnSpPr>
            <a:stCxn id="11" idx="2"/>
            <a:endCxn id="16" idx="1"/>
          </p:cNvCxnSpPr>
          <p:nvPr/>
        </p:nvCxnSpPr>
        <p:spPr>
          <a:xfrm rot="16200000" flipH="1">
            <a:off x="2547382" y="3154618"/>
            <a:ext cx="905965" cy="1143008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Forme 58"/>
          <p:cNvCxnSpPr>
            <a:stCxn id="12" idx="2"/>
            <a:endCxn id="16" idx="0"/>
          </p:cNvCxnSpPr>
          <p:nvPr/>
        </p:nvCxnSpPr>
        <p:spPr>
          <a:xfrm rot="5400000">
            <a:off x="4529786" y="3315354"/>
            <a:ext cx="584494" cy="500066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Forme 58"/>
          <p:cNvCxnSpPr>
            <a:stCxn id="14" idx="2"/>
            <a:endCxn id="16" idx="3"/>
          </p:cNvCxnSpPr>
          <p:nvPr/>
        </p:nvCxnSpPr>
        <p:spPr>
          <a:xfrm rot="5400000">
            <a:off x="5911463" y="2732485"/>
            <a:ext cx="1107289" cy="1785950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avec flèche vers la droite 30"/>
          <p:cNvSpPr/>
          <p:nvPr/>
        </p:nvSpPr>
        <p:spPr>
          <a:xfrm>
            <a:off x="571472" y="1714494"/>
            <a:ext cx="4286280" cy="2428892"/>
          </a:xfrm>
          <a:prstGeom prst="rightArrowCallout">
            <a:avLst>
              <a:gd name="adj1" fmla="val 24135"/>
              <a:gd name="adj2" fmla="val 18942"/>
              <a:gd name="adj3" fmla="val 16346"/>
              <a:gd name="adj4" fmla="val 7012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>Domain</a:t>
            </a:r>
            <a:endParaRPr sz="2800"/>
          </a:p>
        </p:txBody>
      </p:sp>
      <p:sp>
        <p:nvSpPr>
          <p:cNvPr id="11" name="Plaque 10"/>
          <p:cNvSpPr/>
          <p:nvPr/>
        </p:nvSpPr>
        <p:spPr>
          <a:xfrm>
            <a:off x="642910" y="2143122"/>
            <a:ext cx="1071570" cy="779324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Win 10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12" name="Plaque 11"/>
          <p:cNvSpPr/>
          <p:nvPr/>
        </p:nvSpPr>
        <p:spPr>
          <a:xfrm>
            <a:off x="1785918" y="2143122"/>
            <a:ext cx="1071570" cy="779324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>
                <a:solidFill>
                  <a:schemeClr val="tx1"/>
                </a:solidFill>
              </a:rPr>
              <a:t>Win 11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14" name="Croix 13"/>
          <p:cNvSpPr/>
          <p:nvPr/>
        </p:nvSpPr>
        <p:spPr>
          <a:xfrm>
            <a:off x="2928926" y="2285998"/>
            <a:ext cx="571504" cy="571504"/>
          </a:xfrm>
          <a:prstGeom prst="plus">
            <a:avLst>
              <a:gd name="adj" fmla="val 36954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/>
          </a:p>
        </p:txBody>
      </p:sp>
      <p:sp>
        <p:nvSpPr>
          <p:cNvPr id="16" name="Rectangle à coins arrondis 15"/>
          <p:cNvSpPr/>
          <p:nvPr/>
        </p:nvSpPr>
        <p:spPr>
          <a:xfrm>
            <a:off x="1643042" y="3500444"/>
            <a:ext cx="1000132" cy="3214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Switch</a:t>
            </a:r>
            <a:endParaRPr lang="fr-FR" b="1" dirty="0">
              <a:solidFill>
                <a:schemeClr val="tx1"/>
              </a:solidFill>
            </a:endParaRPr>
          </a:p>
        </p:txBody>
      </p:sp>
      <p:cxnSp>
        <p:nvCxnSpPr>
          <p:cNvPr id="17" name="Forme 16"/>
          <p:cNvCxnSpPr>
            <a:stCxn id="11" idx="2"/>
            <a:endCxn id="16" idx="1"/>
          </p:cNvCxnSpPr>
          <p:nvPr/>
        </p:nvCxnSpPr>
        <p:spPr>
          <a:xfrm rot="16200000" flipH="1">
            <a:off x="1041501" y="3059639"/>
            <a:ext cx="738734" cy="464347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Forme 58"/>
          <p:cNvCxnSpPr>
            <a:stCxn id="12" idx="2"/>
            <a:endCxn id="16" idx="0"/>
          </p:cNvCxnSpPr>
          <p:nvPr/>
        </p:nvCxnSpPr>
        <p:spPr>
          <a:xfrm rot="5400000">
            <a:off x="1943407" y="3122148"/>
            <a:ext cx="577998" cy="17859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Forme 58"/>
          <p:cNvCxnSpPr>
            <a:stCxn id="14" idx="2"/>
            <a:endCxn id="16" idx="3"/>
          </p:cNvCxnSpPr>
          <p:nvPr/>
        </p:nvCxnSpPr>
        <p:spPr>
          <a:xfrm rot="5400000">
            <a:off x="2527087" y="2973589"/>
            <a:ext cx="803678" cy="57150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Plaque 27"/>
          <p:cNvSpPr/>
          <p:nvPr/>
        </p:nvSpPr>
        <p:spPr>
          <a:xfrm>
            <a:off x="4857752" y="1428742"/>
            <a:ext cx="3714776" cy="2786082"/>
          </a:xfrm>
          <a:prstGeom prst="bevel">
            <a:avLst>
              <a:gd name="adj" fmla="val 3735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 lang="fr-FR" sz="1000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endParaRPr lang="fr-FR" sz="1000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endParaRPr lang="fr-FR" sz="1000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1000" b="1" dirty="0" smtClean="0">
                <a:solidFill>
                  <a:schemeClr val="tx2">
                    <a:lumMod val="50000"/>
                  </a:schemeClr>
                </a:solidFill>
              </a:rPr>
              <a:t>Active directory  </a:t>
            </a:r>
            <a:r>
              <a:rPr lang="fr-FR" sz="1000" dirty="0" smtClean="0">
                <a:solidFill>
                  <a:schemeClr val="tx1"/>
                </a:solidFill>
              </a:rPr>
              <a:t>(</a:t>
            </a:r>
            <a:r>
              <a:rPr lang="fr-FR" sz="1000" dirty="0" err="1" smtClean="0">
                <a:solidFill>
                  <a:schemeClr val="tx1"/>
                </a:solidFill>
              </a:rPr>
              <a:t>add</a:t>
            </a:r>
            <a:r>
              <a:rPr lang="fr-FR" sz="1000" dirty="0" smtClean="0">
                <a:solidFill>
                  <a:schemeClr val="tx1"/>
                </a:solidFill>
              </a:rPr>
              <a:t> / </a:t>
            </a:r>
            <a:r>
              <a:rPr lang="fr-FR" sz="1000" dirty="0" err="1" smtClean="0">
                <a:solidFill>
                  <a:schemeClr val="tx1"/>
                </a:solidFill>
              </a:rPr>
              <a:t>edit</a:t>
            </a:r>
            <a:r>
              <a:rPr lang="fr-FR" sz="1000" dirty="0" smtClean="0">
                <a:solidFill>
                  <a:schemeClr val="tx1"/>
                </a:solidFill>
              </a:rPr>
              <a:t> / enter </a:t>
            </a:r>
            <a:r>
              <a:rPr lang="fr-FR" sz="1000" dirty="0" err="1" smtClean="0">
                <a:solidFill>
                  <a:schemeClr val="tx1"/>
                </a:solidFill>
              </a:rPr>
              <a:t>users</a:t>
            </a:r>
            <a:r>
              <a:rPr lang="fr-FR" sz="1000" dirty="0" smtClean="0">
                <a:solidFill>
                  <a:schemeClr val="tx1"/>
                </a:solidFill>
              </a:rPr>
              <a:t>)</a:t>
            </a:r>
          </a:p>
          <a:p>
            <a:pPr>
              <a:buFont typeface="Wingdings" pitchFamily="2" charset="2"/>
              <a:buChar char="Ø"/>
            </a:pPr>
            <a:r>
              <a:rPr lang="fr-FR" sz="1000" b="1" dirty="0" smtClean="0">
                <a:solidFill>
                  <a:schemeClr val="tx2">
                    <a:lumMod val="50000"/>
                  </a:schemeClr>
                </a:solidFill>
              </a:rPr>
              <a:t>Group </a:t>
            </a:r>
            <a:r>
              <a:rPr lang="fr-FR" sz="1000" b="1" dirty="0" err="1" smtClean="0">
                <a:solidFill>
                  <a:schemeClr val="tx2">
                    <a:lumMod val="50000"/>
                  </a:schemeClr>
                </a:solidFill>
              </a:rPr>
              <a:t>policy</a:t>
            </a:r>
            <a:r>
              <a:rPr lang="fr-FR" sz="10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fr-FR" sz="1000" dirty="0" smtClean="0">
                <a:solidFill>
                  <a:schemeClr val="tx1"/>
                </a:solidFill>
              </a:rPr>
              <a:t>(</a:t>
            </a:r>
            <a:r>
              <a:rPr lang="en-US" sz="1000" dirty="0" smtClean="0">
                <a:solidFill>
                  <a:schemeClr val="tx1"/>
                </a:solidFill>
              </a:rPr>
              <a:t>manage the configuration of the Win, applications, and users' settings)</a:t>
            </a:r>
            <a:endParaRPr lang="fr-FR" sz="1000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1000" b="1" dirty="0" smtClean="0">
                <a:solidFill>
                  <a:schemeClr val="tx2">
                    <a:lumMod val="50000"/>
                  </a:schemeClr>
                </a:solidFill>
              </a:rPr>
              <a:t>File server </a:t>
            </a:r>
            <a:r>
              <a:rPr lang="fr-FR" sz="1000" dirty="0" smtClean="0">
                <a:solidFill>
                  <a:schemeClr val="tx1"/>
                </a:solidFill>
              </a:rPr>
              <a:t>(</a:t>
            </a:r>
            <a:r>
              <a:rPr lang="fr-FR" sz="1000" dirty="0" err="1" smtClean="0">
                <a:solidFill>
                  <a:schemeClr val="tx1"/>
                </a:solidFill>
              </a:rPr>
              <a:t>folder</a:t>
            </a:r>
            <a:r>
              <a:rPr lang="fr-FR" sz="1000" dirty="0" smtClean="0">
                <a:solidFill>
                  <a:schemeClr val="tx1"/>
                </a:solidFill>
              </a:rPr>
              <a:t> </a:t>
            </a:r>
            <a:r>
              <a:rPr lang="fr-FR" sz="1000" dirty="0" err="1" smtClean="0">
                <a:solidFill>
                  <a:schemeClr val="tx1"/>
                </a:solidFill>
              </a:rPr>
              <a:t>sheare</a:t>
            </a:r>
            <a:r>
              <a:rPr lang="fr-FR" sz="1000" dirty="0" smtClean="0">
                <a:solidFill>
                  <a:schemeClr val="tx1"/>
                </a:solidFill>
              </a:rPr>
              <a:t> for </a:t>
            </a:r>
            <a:r>
              <a:rPr lang="fr-FR" sz="1000" dirty="0" err="1" smtClean="0">
                <a:solidFill>
                  <a:schemeClr val="tx1"/>
                </a:solidFill>
              </a:rPr>
              <a:t>each</a:t>
            </a:r>
            <a:r>
              <a:rPr lang="fr-FR" sz="1000" dirty="0" smtClean="0">
                <a:solidFill>
                  <a:schemeClr val="tx1"/>
                </a:solidFill>
              </a:rPr>
              <a:t> group)</a:t>
            </a:r>
          </a:p>
          <a:p>
            <a:pPr>
              <a:buFont typeface="Wingdings" pitchFamily="2" charset="2"/>
              <a:buChar char="Ø"/>
            </a:pPr>
            <a:r>
              <a:rPr lang="fr-FR" sz="1000" b="1" dirty="0" smtClean="0">
                <a:solidFill>
                  <a:schemeClr val="tx2">
                    <a:lumMod val="50000"/>
                  </a:schemeClr>
                </a:solidFill>
              </a:rPr>
              <a:t>DHCP</a:t>
            </a:r>
            <a:r>
              <a:rPr lang="fr-FR" sz="1000" dirty="0" smtClean="0">
                <a:solidFill>
                  <a:schemeClr val="tx1"/>
                </a:solidFill>
              </a:rPr>
              <a:t> (auto </a:t>
            </a:r>
            <a:r>
              <a:rPr lang="fr-FR" sz="1000" dirty="0" err="1" smtClean="0">
                <a:solidFill>
                  <a:schemeClr val="tx1"/>
                </a:solidFill>
              </a:rPr>
              <a:t>assigns</a:t>
            </a:r>
            <a:r>
              <a:rPr lang="fr-FR" sz="1000" dirty="0" smtClean="0">
                <a:solidFill>
                  <a:schemeClr val="tx1"/>
                </a:solidFill>
              </a:rPr>
              <a:t> IP </a:t>
            </a:r>
            <a:r>
              <a:rPr lang="fr-FR" sz="1000" dirty="0" err="1" smtClean="0">
                <a:solidFill>
                  <a:schemeClr val="tx1"/>
                </a:solidFill>
              </a:rPr>
              <a:t>addresses</a:t>
            </a:r>
            <a:r>
              <a:rPr lang="fr-FR" sz="1000" dirty="0" smtClean="0">
                <a:solidFill>
                  <a:schemeClr val="tx1"/>
                </a:solidFill>
              </a:rPr>
              <a:t>)</a:t>
            </a:r>
          </a:p>
          <a:p>
            <a:pPr>
              <a:buFont typeface="Wingdings" pitchFamily="2" charset="2"/>
              <a:buChar char="Ø"/>
            </a:pPr>
            <a:r>
              <a:rPr lang="fr-FR" sz="1000" b="1" dirty="0" smtClean="0">
                <a:solidFill>
                  <a:schemeClr val="tx2">
                    <a:lumMod val="50000"/>
                  </a:schemeClr>
                </a:solidFill>
              </a:rPr>
              <a:t>DNS</a:t>
            </a:r>
            <a:r>
              <a:rPr lang="fr-FR" sz="1000" dirty="0" smtClean="0">
                <a:solidFill>
                  <a:schemeClr val="tx1"/>
                </a:solidFill>
              </a:rPr>
              <a:t>  </a:t>
            </a:r>
            <a:r>
              <a:rPr lang="en-US" sz="1000" dirty="0" smtClean="0">
                <a:solidFill>
                  <a:schemeClr val="tx1"/>
                </a:solidFill>
              </a:rPr>
              <a:t>(translates names into IP addresses)</a:t>
            </a:r>
            <a:r>
              <a:rPr lang="fr-FR" sz="1000" dirty="0" smtClean="0">
                <a:solidFill>
                  <a:schemeClr val="tx1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1000" b="1" dirty="0" err="1" smtClean="0">
                <a:solidFill>
                  <a:schemeClr val="tx2">
                    <a:lumMod val="50000"/>
                  </a:schemeClr>
                </a:solidFill>
              </a:rPr>
              <a:t>Print</a:t>
            </a:r>
            <a:r>
              <a:rPr lang="fr-FR" sz="1000" b="1" dirty="0" smtClean="0">
                <a:solidFill>
                  <a:schemeClr val="tx2">
                    <a:lumMod val="50000"/>
                  </a:schemeClr>
                </a:solidFill>
              </a:rPr>
              <a:t> server </a:t>
            </a:r>
            <a:r>
              <a:rPr lang="en-US" sz="1000" dirty="0" smtClean="0">
                <a:solidFill>
                  <a:schemeClr val="tx1"/>
                </a:solidFill>
              </a:rPr>
              <a:t>(manages all printers and print)</a:t>
            </a:r>
          </a:p>
          <a:p>
            <a:pPr>
              <a:buFont typeface="Wingdings" pitchFamily="2" charset="2"/>
              <a:buChar char="Ø"/>
            </a:pPr>
            <a:r>
              <a:rPr lang="en-US" sz="1000" b="1" dirty="0" smtClean="0">
                <a:solidFill>
                  <a:schemeClr val="tx2">
                    <a:lumMod val="50000"/>
                  </a:schemeClr>
                </a:solidFill>
              </a:rPr>
              <a:t>WSUS</a:t>
            </a:r>
            <a:r>
              <a:rPr lang="en-US" sz="1000" dirty="0" smtClean="0">
                <a:solidFill>
                  <a:schemeClr val="tx1"/>
                </a:solidFill>
              </a:rPr>
              <a:t> (manage and distribute Microsoft updates)</a:t>
            </a:r>
          </a:p>
          <a:p>
            <a:pPr>
              <a:buFont typeface="Wingdings" pitchFamily="2" charset="2"/>
              <a:buChar char="Ø"/>
            </a:pPr>
            <a:r>
              <a:rPr lang="fr-FR" sz="1000" b="1" dirty="0" smtClean="0">
                <a:solidFill>
                  <a:schemeClr val="tx2">
                    <a:lumMod val="50000"/>
                  </a:schemeClr>
                </a:solidFill>
              </a:rPr>
              <a:t>Server </a:t>
            </a:r>
            <a:r>
              <a:rPr lang="fr-FR" sz="1000" b="1" dirty="0" err="1" smtClean="0">
                <a:solidFill>
                  <a:schemeClr val="tx2">
                    <a:lumMod val="50000"/>
                  </a:schemeClr>
                </a:solidFill>
              </a:rPr>
              <a:t>Core</a:t>
            </a:r>
            <a:r>
              <a:rPr lang="fr-FR" sz="10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fr-FR" sz="1000" dirty="0" smtClean="0">
                <a:solidFill>
                  <a:schemeClr val="tx1"/>
                </a:solidFill>
              </a:rPr>
              <a:t>(command line)</a:t>
            </a:r>
          </a:p>
          <a:p>
            <a:pPr>
              <a:buFont typeface="Wingdings" pitchFamily="2" charset="2"/>
              <a:buChar char="Ø"/>
            </a:pPr>
            <a:r>
              <a:rPr lang="en-US" sz="1000" b="1" dirty="0" smtClean="0">
                <a:solidFill>
                  <a:schemeClr val="tx2">
                    <a:lumMod val="50000"/>
                  </a:schemeClr>
                </a:solidFill>
              </a:rPr>
              <a:t>RDS</a:t>
            </a:r>
            <a:r>
              <a:rPr lang="en-US" sz="1000" dirty="0" smtClean="0">
                <a:solidFill>
                  <a:schemeClr val="tx1"/>
                </a:solidFill>
              </a:rPr>
              <a:t> </a:t>
            </a:r>
            <a:r>
              <a:rPr lang="en-US" sz="1000" dirty="0" smtClean="0">
                <a:solidFill>
                  <a:schemeClr val="tx1"/>
                </a:solidFill>
              </a:rPr>
              <a:t>(access a server or virtual desktop from a different location)</a:t>
            </a:r>
            <a:endParaRPr lang="fr-FR" sz="1000" dirty="0" smtClean="0">
              <a:solidFill>
                <a:schemeClr val="tx1"/>
              </a:solidFill>
            </a:endParaRPr>
          </a:p>
        </p:txBody>
      </p:sp>
      <p:sp>
        <p:nvSpPr>
          <p:cNvPr id="29" name="Rectangle à coins arrondis 28"/>
          <p:cNvSpPr/>
          <p:nvPr/>
        </p:nvSpPr>
        <p:spPr>
          <a:xfrm>
            <a:off x="5786446" y="4286262"/>
            <a:ext cx="1857388" cy="357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 smtClean="0">
                <a:solidFill>
                  <a:schemeClr val="tx1"/>
                </a:solidFill>
              </a:rPr>
              <a:t>Win Server</a:t>
            </a:r>
            <a:endParaRPr lang="fr-FR" sz="1800" b="1" dirty="0">
              <a:solidFill>
                <a:schemeClr val="tx1"/>
              </a:solidFill>
            </a:endParaRPr>
          </a:p>
        </p:txBody>
      </p:sp>
      <p:sp>
        <p:nvSpPr>
          <p:cNvPr id="30" name="Rectangle à coins arrondis 29"/>
          <p:cNvSpPr/>
          <p:nvPr/>
        </p:nvSpPr>
        <p:spPr>
          <a:xfrm>
            <a:off x="5143504" y="1643056"/>
            <a:ext cx="3214710" cy="357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800" b="1" dirty="0" smtClean="0">
                <a:solidFill>
                  <a:schemeClr val="tx1"/>
                </a:solidFill>
              </a:rPr>
              <a:t>[company name].local</a:t>
            </a:r>
            <a:endParaRPr lang="fr-FR" sz="1800" b="1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643306" y="2714626"/>
            <a:ext cx="785818" cy="42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Join to domain</a:t>
            </a:r>
            <a:endParaRPr lang="fr-FR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113</Words>
  <PresentationFormat>Affichage à l'écran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Rubik Black</vt:lpstr>
      <vt:lpstr>Wingdings</vt:lpstr>
      <vt:lpstr>Karla</vt:lpstr>
      <vt:lpstr>Bebas Neue</vt:lpstr>
      <vt:lpstr>Soft Colors UI Design for Agencies by Slidesgo</vt:lpstr>
      <vt:lpstr>Network systems in windows</vt:lpstr>
      <vt:lpstr>Workgroup</vt:lpstr>
      <vt:lpstr>Domain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types</dc:title>
  <cp:lastModifiedBy>lemghallad</cp:lastModifiedBy>
  <cp:revision>23</cp:revision>
  <dcterms:modified xsi:type="dcterms:W3CDTF">2026-02-06T16:37:31Z</dcterms:modified>
</cp:coreProperties>
</file>